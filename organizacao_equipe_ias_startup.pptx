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35A0B4"/>
                </a:solidFill>
                <a:latin typeface="Aptos"/>
              </a:defRPr>
            </a:pPr>
            <a:r>
              <a:t>MODELO OPERACIONAL • STARTUP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7955279" cy="1371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Organização da</a:t>
            </a:r>
          </a:p>
          <a:p>
            <a:pPr algn="l">
              <a:spcAft>
                <a:spcPts val="5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Equipe de 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804672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000" b="0">
                <a:solidFill>
                  <a:srgbClr val="CFDAE9"/>
                </a:solidFill>
                <a:latin typeface="Aptos"/>
              </a:defRPr>
            </a:pPr>
            <a:r>
              <a:t>Organograma, responsabilidades, fluxo de decisão e entregáveis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94960"/>
            <a:ext cx="91440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AB9CD"/>
                </a:solidFill>
                <a:latin typeface="Aptos"/>
              </a:defRPr>
            </a:pPr>
            <a:r>
              <a:t>Proposta inicial • Governança centralizada • Especialização distribuída</a:t>
            </a:r>
          </a:p>
        </p:txBody>
      </p:sp>
      <p:sp>
        <p:nvSpPr>
          <p:cNvPr id="6" name="Oval 5"/>
          <p:cNvSpPr/>
          <p:nvPr/>
        </p:nvSpPr>
        <p:spPr>
          <a:xfrm>
            <a:off x="9235440" y="914400"/>
            <a:ext cx="1097280" cy="1097280"/>
          </a:xfrm>
          <a:prstGeom prst="ellipse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20" y="1828800"/>
            <a:ext cx="731520" cy="731520"/>
          </a:xfrm>
          <a:prstGeom prst="ellipse">
            <a:avLst/>
          </a:prstGeom>
          <a:solidFill>
            <a:srgbClr val="35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0" y="2560320"/>
            <a:ext cx="502920" cy="502920"/>
          </a:xfrm>
          <a:prstGeom prst="ellipse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98480" y="3017520"/>
            <a:ext cx="365760" cy="365760"/>
          </a:xfrm>
          <a:prstGeom prst="ellipse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3657600"/>
            <a:ext cx="640080" cy="640080"/>
          </a:xfrm>
          <a:prstGeom prst="ellipse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1. Princípio organizacional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Uma equipe de IAs funciona por contratos de responsabilidade, não apenas pela escolha de plataformas.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82296" cy="1874519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VOCÊ — FUNDADOR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7672"/>
            <a:ext cx="3227832" cy="127101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Define visão, objetivos, orçamento, prioridades e tolerância a risco. Aprova decisões críticas.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82296" cy="1874519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GOVERNANÇA CENTRAL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47672"/>
            <a:ext cx="3227832" cy="127101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Constituição, políticas, instruções, workflows e decisões registradas no repositório ai-team/.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17320"/>
            <a:ext cx="82296" cy="1874519"/>
          </a:xfrm>
          <a:prstGeom prst="rect">
            <a:avLst/>
          </a:prstGeom>
          <a:solidFill>
            <a:srgbClr val="35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AGENTES ESPECIALIZADOS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47672"/>
            <a:ext cx="3227832" cy="127101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Analisam, projetam, executam ou revisam dentro de escopos definidos, produzindo evidências.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10515600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121F36"/>
                </a:solidFill>
                <a:latin typeface="Aptos"/>
              </a:defRPr>
            </a:pPr>
            <a:r>
              <a:t>Centralize regras e registros; distribua especialidades; preserve a aprovação humana para decisões de impacto.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2. Organograma proposto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Estrutura funcional — as linhas representam coordenação e fluxo, não autoridade ilimitada.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1170432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60520" y="1170432"/>
            <a:ext cx="82296" cy="685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0" y="1280160"/>
            <a:ext cx="35661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21F36"/>
                </a:solidFill>
                <a:latin typeface="Aptos"/>
              </a:defRPr>
            </a:pPr>
            <a:r>
              <a:t>VOCÊ • FUNDADOR / DONO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700784"/>
            <a:ext cx="3547872" cy="822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Autoridade final e aprovação humana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148840"/>
            <a:ext cx="38404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60520" y="2148840"/>
            <a:ext cx="82296" cy="685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258568"/>
            <a:ext cx="35661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21F36"/>
                </a:solidFill>
                <a:latin typeface="Aptos"/>
              </a:defRPr>
            </a:pPr>
            <a:r>
              <a:t>CTO / ESTRATÉGIA — CHATGPT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79192"/>
            <a:ext cx="3547872" cy="8229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Objetivos, prioridades e produto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1856231"/>
            <a:ext cx="0" cy="265177"/>
          </a:xfrm>
          <a:prstGeom prst="line">
            <a:avLst/>
          </a:prstGeom>
          <a:ln w="19050">
            <a:solidFill>
              <a:srgbClr val="E08E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338328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383280"/>
            <a:ext cx="82296" cy="1051560"/>
          </a:xfrm>
          <a:prstGeom prst="rect">
            <a:avLst/>
          </a:prstGeom>
          <a:solidFill>
            <a:srgbClr val="35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493008"/>
            <a:ext cx="23317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Marketing —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13632"/>
            <a:ext cx="2313432" cy="44805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Mercado, posicionamento,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aquisição e retenção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691639" y="2834640"/>
            <a:ext cx="4389121" cy="50292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337560" y="338328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3383280"/>
            <a:ext cx="82296" cy="105156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493008"/>
            <a:ext cx="23317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Jurídico — Gemini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913632"/>
            <a:ext cx="2313432" cy="44805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Legislação, contratos,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riscos e conformidade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617720" y="2834640"/>
            <a:ext cx="1463040" cy="50292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63640" y="338328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383280"/>
            <a:ext cx="82296" cy="105156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493008"/>
            <a:ext cx="23317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Contábil e Financeiro — Gemini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13632"/>
            <a:ext cx="2313432" cy="44805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Contabilidade, caixa,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orçamento e projeções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2834640"/>
            <a:ext cx="1463040" cy="50292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89720" y="3383280"/>
            <a:ext cx="2606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3383280"/>
            <a:ext cx="82296" cy="105156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3493008"/>
            <a:ext cx="233172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Arquiteto — Claude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913632"/>
            <a:ext cx="2313432" cy="44805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Arquitetura, padrões,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integrações e ADRs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2834640"/>
            <a:ext cx="4389120" cy="50292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1520" y="507492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074920"/>
            <a:ext cx="82296" cy="91440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184648"/>
            <a:ext cx="2971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21F36"/>
                </a:solidFill>
                <a:latin typeface="Aptos"/>
              </a:defRPr>
            </a:pPr>
            <a:r>
              <a:t>Engenheiro — Claude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05272"/>
            <a:ext cx="2953512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Especificações e engenharia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507492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60" y="5074920"/>
            <a:ext cx="82296" cy="9144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184648"/>
            <a:ext cx="2971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21F36"/>
                </a:solidFill>
                <a:latin typeface="Aptos"/>
              </a:defRPr>
            </a:pPr>
            <a:r>
              <a:t>Developer Agent — VS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605272"/>
            <a:ext cx="2953512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Implementação autorizada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507492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5074920"/>
            <a:ext cx="82296" cy="91440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5184648"/>
            <a:ext cx="29718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121F36"/>
                </a:solidFill>
                <a:latin typeface="Aptos"/>
              </a:defRPr>
            </a:pPr>
            <a:r>
              <a:t>Testes + Revisor independente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605272"/>
            <a:ext cx="2953512" cy="3108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Evidências e qualidade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2377440" y="5577840"/>
            <a:ext cx="2103120" cy="45720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726679" y="5577840"/>
            <a:ext cx="502921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C7E"/>
                </a:solidFill>
                <a:latin typeface="Aptos"/>
              </a:defRPr>
            </a:pPr>
            <a:r>
              <a:t>A revisão deve ser independente do autor sempre que possível.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3. Organização por camadas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Separar decisão, desenho, execução e controle reduz conflitos entre agentes.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82296" cy="123444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35607"/>
            <a:ext cx="50292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A — DIREÇÃO E NEGÓCIO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56231"/>
            <a:ext cx="5010912" cy="63093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Fundador + CTO + Marketing + Jurídico + Contábil/Financeiro conforme a demanda.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82296" cy="123444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7"/>
            <a:ext cx="50292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B — ARQUITETURA E ENGENHARIA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56231"/>
            <a:ext cx="5010912" cy="63093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Arquiteto define decisões técnicas; Engenheiro detalha implementação, integração e manutenção.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260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926080"/>
            <a:ext cx="82296" cy="123444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35808"/>
            <a:ext cx="50292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C — EXECUÇÃO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456432"/>
            <a:ext cx="5010912" cy="63093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Developer Agent implementa tarefas aprovadas, com permissões mínimas e registro de alterações.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260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82296" cy="123444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35808"/>
            <a:ext cx="50292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D — GARANTIA E CONTROLE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56432"/>
            <a:ext cx="5010912" cy="63093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Testes, revisão independente e automação produzem evidências; humano aprova ações críticas.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21F36"/>
                </a:solidFill>
                <a:latin typeface="Aptos"/>
              </a:defRPr>
            </a:pPr>
            <a:r>
              <a:t>Especialistas podem ser acionados diretamente quando a demanda exige seu domínio — não é necessário passar tudo pelo CTO.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4. Matriz de responsabilidades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Responsável principal não significa autoridade para aprovar a própria entrega.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2014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926080"/>
                <a:gridCol w="4434840"/>
              </a:tblGrid>
              <a:tr h="44196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Atividade</a:t>
                      </a:r>
                    </a:p>
                  </a:txBody>
                  <a:tcPr>
                    <a:solidFill>
                      <a:srgbClr val="12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Responsável</a:t>
                      </a:r>
                    </a:p>
                  </a:txBody>
                  <a:tcPr>
                    <a:solidFill>
                      <a:srgbClr val="121F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Consulta / aprovação</a:t>
                      </a:r>
                    </a:p>
                  </a:txBody>
                  <a:tcPr>
                    <a:solidFill>
                      <a:srgbClr val="121F3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Visão, metas e orçamento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Fundador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CTO e especialistas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Prioridades e requisitos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CTO / Fundador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Especialistas relevantes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Arquitetura e ADRs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Arquiteto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Engenheiro, CTO, revisor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Plano de implementação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Engenheiro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Arquiteto, Developer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Código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Developer Agent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Engenheiro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Testes e evidências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Tests Agent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Developer, Engenheiro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Revisão independente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Revisor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Especialistas pertinentes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Campanhas e posicionamento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Marketing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CTO; Jurídico quando necessário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Riscos e documentos jurídicos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Jurídico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Fundador/advogado quando necessário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Contabilidade e finanças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Contábil e Financeiro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Fundador/contador quando necessário</a:t>
                      </a:r>
                    </a:p>
                  </a:txBody>
                  <a:tcPr marL="64008" marT="22860">
                    <a:solidFill>
                      <a:srgbClr val="EBF0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Deploy e ações críticas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Agente autorizado prepara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3244"/>
                          </a:solidFill>
                        </a:defRPr>
                      </a:pPr>
                      <a:r>
                        <a:t>Responsável humano aprova</a:t>
                      </a:r>
                    </a:p>
                  </a:txBody>
                  <a:tcPr marL="64008" marT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5. Você e o 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O fundador mantém a decisão final; o CTO organiza a estratégia e recomenda prioridades.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949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82296" cy="402336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35607"/>
            <a:ext cx="51206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F36"/>
                </a:solidFill>
                <a:latin typeface="Aptos"/>
              </a:defRPr>
            </a:pPr>
            <a:r>
              <a:t>VOCÊ — FUNDADOR / DONO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56231"/>
            <a:ext cx="510235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Define visão, público e modelo de negócio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Aprova orçamento e tolerância a risco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Define prioridades finais e critérios de sucesso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Aprova mudanças materiais de escopo/arquitetura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Autoriza publicações, despesas e ações críticas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Resolve conflitos fora da autoridade delegada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82296" cy="402336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35607"/>
            <a:ext cx="502920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F36"/>
                </a:solidFill>
                <a:latin typeface="Aptos"/>
              </a:defRPr>
            </a:pPr>
            <a:r>
              <a:t>CTO — ESTRATÉGIA E PRODUTO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56231"/>
            <a:ext cx="501091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Traduz visão em objetivos e roadmap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Prioriza backlog e explicita trade-offs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Coordena especialistas de negócio e tecnologia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Alinha produto, prazo e risco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Consolida recomendações e solicita análises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Escala decisões fora de sua autoridade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Registra decisões e premissas relevantes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515600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BE4C4C"/>
                </a:solidFill>
                <a:latin typeface="Aptos"/>
              </a:defRPr>
            </a:pPr>
            <a:r>
              <a:t>O CTO não substitui especialistas nem pode ampliar suas próprias permissões.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6. Agente de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Foco: entender o mercado e transformar hipóteses em experimentos mensuráveis.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114800"/>
          </a:xfrm>
          <a:prstGeom prst="rect">
            <a:avLst/>
          </a:prstGeom>
          <a:solidFill>
            <a:srgbClr val="35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O QUE FAZ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Pesquisa segmentos e concorrentes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Define público e personas com evidências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Formula posicionamento e proposta de valor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Recomenda canais, funis e campanhas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Define KPIs e testes A/B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Analisa resultados disponíveis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114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ENTREGÁVEIS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Análise de mercado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Persona e jornada do cliente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marketing priorizado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campanha e conteúdo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Matriz de canais, custos e KPIs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Relatório de resultados e próximos passos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114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inventar dados nem prometer resultados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Declarar premissas e incertezas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Respeitar orçamento e marca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Consultar Jurídico sobre publicidade, LGPD e direitos autorais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publicar nem contratar sem autorização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C7E"/>
                </a:solidFill>
                <a:latin typeface="Aptos"/>
              </a:defRPr>
            </a:pPr>
            <a:r>
              <a:t>Entrada: objetivo, produto, público, região, orçamento, prazo e métricas disponíveis.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7. Agente Jurídico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Foco: pesquisa fundamentada e análise preliminar de riscos no contexto brasileiro.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11480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O QUE FAZ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Identifica questões e jurisdição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Pesquisa legislação e regulamentação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Analisa contratos e políticas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Identifica ambiguidades e riscos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Apoia análises de LGPD e conformidade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Distingue regra, interpretação e recomendação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114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ENTREGÁVEIS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Parecer preliminar com escopo e data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Matriz de riscos e mitigação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Análise contratual com cláusulas citadas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Checklist de conformidade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Minutas para revisão profissional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Fontes oficiais e pendências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114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inventar leis ou precedentes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Verificar vigência e aplicabilidade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declarar conformidade sem base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assinar ou protocolar sem autorização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Escalar casos complexos a advogado habilitado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Proteger documentos confidenciais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C7E"/>
                </a:solidFill>
                <a:latin typeface="Aptos"/>
              </a:defRPr>
            </a:pPr>
            <a:r>
              <a:t>Saída: conclusão preliminar, fundamentos, riscos, confiança e validações pendentes.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8. Agente Contábil e Financeiro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Um agente para começar; duas áreas de competência separadas internamente.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11480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CONTABILIDADE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contas e classificações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Conciliações e divergências de saldos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Análise de demonstrações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Checklists de fechamento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Apoio a obrigações contábeis e fiscais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Cálculos e premissas documentados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114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FINANÇAS E CONTROLADORIA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Fluxo de caixa e capital de giro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Contas a pagar e receber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Orçamento e projeções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Liquidez e cenários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Custos, margens e rentabilidade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Indicadores gerenciais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114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inventar saldos ou regras fiscais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Confirmar período e regime tributário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Distinguir visão contábil e gerencial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alterar livros/transmitir declarações sem autorização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Escalar temas técnicos a contador habilitado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movimentar recursos sem autorização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F6C7E"/>
                </a:solidFill>
                <a:latin typeface="Aptos"/>
              </a:defRPr>
            </a:pPr>
            <a:r>
              <a:t>Entregáveis: conciliações, inconsistências, fluxo de caixa, projeções e riscos.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9. Arquiteto de Software —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Foco: decisões estruturais antes da implementação.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114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RESPONSABILIDADES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Compreender contexto e requisitos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Definir componentes e limites de módulos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Recomendar tecnologias e padrões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Definir integrações e contratos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Analisar segurança, escala e custo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Identificar riscos arquiteturais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Manter decisões em ADRs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11480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ENTREGÁVEIS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Diagramas de contexto e componentes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ADRs e RFCs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Requisitos não funcionais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Contratos de integração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Alternativas e trade-offs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evolução e migração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Critérios de revisão arquitetural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114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assumir requisitos não aprovados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implementar se o papel for consultivo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Consultar CTO sobre impacto no produto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Consultar especialistas quando aplicável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Mudanças materiais seguem governança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Registrar premissas e riscos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10. Engenheiro de Software — Claude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Foco: transformar requisitos e arquitetura aprovados em implementação verificável.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11480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RESPONSABILIDADES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Detalhar requisitos e contratos técnicos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Dividir trabalho em tarefas pequenas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Definir critérios de aceite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Planejar testes e observabilidade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Orientar padrões de implementação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Avaliar manutenção e tratamento de erros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Sinalizar lacunas e conflitos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114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ENTREGÁVEIS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Especificação técnica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implementação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Tarefas e dependências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Critérios de aceite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testes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Checklist de segurança e qualidade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Notas de migração e operação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114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LIMITES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Respeitar arquitetura aprovada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alterar escopo unilateralmente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Solicitar decisão para mudanças materiais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Coordenar Arquiteto e Developer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Evitar complexidade sem benefício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Exigir evidência de conclusão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11. Developer, Testes e Revisor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Execução local com permissões mínimas, tarefas claras e evidências reproduzíveis.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20624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DEVELOPER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6027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Ler AGENTS.md e instruções da plataforma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Consultar arquitetura e ADRs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Implementar escopo autorizado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Atualizar testes junto ao código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remover controles para passar testes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Relatar arquivos e limitações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publicar sem autorização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20624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TESTS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6027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Mapear requisitos para testes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Cobrir casos positivos e negativos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Verificar regressões e segurança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Registrar comandos e resultados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alegar cobertura não medida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Documentar falhas e pendências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20624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REVISOR INDEPENDENTE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6027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Revisar diff sem depender do autor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Avaliar correção, segurança e arquitetura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Verificar critérios de aceite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Classificar achados por severidade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Registrar parecer e limitações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263244"/>
                </a:solidFill>
                <a:latin typeface="Aptos"/>
              </a:defRPr>
            </a:pPr>
            <a:r>
              <a:t>• Não confundir parecer com aprovação humana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12. Fluxo operacional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Cada etapa produz um artefato para evitar dependência de conversas informais.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828800"/>
            <a:ext cx="82296" cy="164592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1.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Objetivo 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restrições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56231" y="2651760"/>
            <a:ext cx="128017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1828800"/>
            <a:ext cx="82296" cy="164592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2. Análise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CTO 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especialistas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47872" y="2651760"/>
            <a:ext cx="128016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0332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1828800"/>
            <a:ext cx="82296" cy="164592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3. Decisão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Requisitos 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ADRs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39512" y="2651760"/>
            <a:ext cx="128016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39496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4960" y="1828800"/>
            <a:ext cx="82296" cy="164592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4. Plano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Tarefas 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aceite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31152" y="2651760"/>
            <a:ext cx="128016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08660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86600" y="1828800"/>
            <a:ext cx="82296" cy="164592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5. Execução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Código 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registros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622792" y="2651760"/>
            <a:ext cx="128016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77824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1828800"/>
            <a:ext cx="82296" cy="164592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19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6. Verificação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19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Testes 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revisão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14432" y="2651760"/>
            <a:ext cx="128016" cy="0"/>
          </a:xfrm>
          <a:prstGeom prst="line">
            <a:avLst/>
          </a:prstGeom>
          <a:ln w="19050">
            <a:solidFill>
              <a:srgbClr val="5F6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469880" y="1828800"/>
            <a:ext cx="1536192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69880" y="1828800"/>
            <a:ext cx="82296" cy="164592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1938528"/>
            <a:ext cx="1261872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121F36"/>
                </a:solidFill>
                <a:latin typeface="Aptos"/>
              </a:defRPr>
            </a:pPr>
            <a:r>
              <a:t>7. Aprovação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2359152"/>
            <a:ext cx="1243584" cy="104241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Humano quando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263244"/>
                </a:solidFill>
                <a:latin typeface="Aptos"/>
              </a:defRPr>
            </a:pPr>
            <a:r>
              <a:t>exigido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160520"/>
            <a:ext cx="10789920" cy="9144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Se surgir conflito, risco não autorizado ou requisito crítico ausente: interrompa apenas a parte afetada, registre o motivo e peça decisão. Continue as partes seguras e independentes.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13. Repositório central: fonte oficial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Conversas são temporárias; decisões e instruções operacionais precisam ser versionadas.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402336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GOVERNANCE/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constitution.md — princípios e autoridade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decision-policy.md — decisões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security-policy.md — segurança e privacidade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human-approval.md — aprovações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402336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AGENTS/ E PLATFORMS/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Agentes: missão, escopo, entradas, saídas e limites.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Plataformas: instruções específicas de carregamento.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Não duplicar políticas centrais sem necessidade.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402336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DOCS/ E WORKFLOWS/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architecture.md e ADRs: decisões técnicas.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Workflows: sequência e handoffs.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Evaluations: cenários e critérios de qualidade.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8992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BE4C4C"/>
                </a:solidFill>
                <a:latin typeface="Aptos"/>
              </a:defRPr>
            </a:pPr>
            <a:r>
              <a:t>Não presumir que plataformas diferentes compartilham conversas ou memória automaticamente.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14. Decisões que exigem aprovação humana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 aprovação deve ser explícita, rastreável e proporcional ao impacto.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94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82296" cy="411480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51206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APROVAR ANTES DE EXECUTAR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10235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Deploy, publicação ou comunicação externa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Mudanças materiais de requisitos/arquitetura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Migrações destrutivas ou sem rollback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Alterações em produção ou dados compartilhados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Gastos, serviços pagos e permissões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Novo tratamento de dados pessoais/confidenciais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Mudanças em autenticação ou retenção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82296" cy="411480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51206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O AGENTE DEVE APRESENTAR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5102352" cy="351129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Objetivo e justificativa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Alternativas consideradas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Impactos e riscos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Plano de rollback quando aplicável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Testes e evidências disponíveis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Custos e dependências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263244"/>
                </a:solidFill>
                <a:latin typeface="Aptos"/>
              </a:defRPr>
            </a:pPr>
            <a:r>
              <a:t>• Decisão solicitada e aprovador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BE4C4C"/>
                </a:solidFill>
                <a:latin typeface="Aptos"/>
              </a:defRPr>
            </a:pPr>
            <a:r>
              <a:t>Silêncio, resposta positiva de outra IA ou testes aprovados não substituem autorização.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15. Contrato de comunicação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Toda transferência deve ser suficiente para o próximo agente trabalhar sem adivinhar.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53949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80160"/>
            <a:ext cx="82296" cy="402336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89888"/>
            <a:ext cx="51206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F36"/>
                </a:solidFill>
                <a:latin typeface="Aptos"/>
              </a:defRPr>
            </a:pPr>
            <a:r>
              <a:t>PACOTE DE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10512"/>
            <a:ext cx="510235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Identificador e objetivo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Contexto e resultado esperado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Requisitos e restrições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Fontes e arquivos relevantes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ADRs e decisões aplicáveis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Critérios de aceite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Limites de autorização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9496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82296" cy="402336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512064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21F36"/>
                </a:solidFill>
                <a:latin typeface="Aptos"/>
              </a:defRPr>
            </a:pPr>
            <a:r>
              <a:t>PACOTE DE SAÍDA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10512"/>
            <a:ext cx="5102352" cy="341985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Resumo da conclusão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Arquivos e artefatos produzidos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Decisões e premissas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Evidências e testes executados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Riscos e limitações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Pendências e próximos passos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Aprovação necessária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1F36"/>
                </a:solidFill>
                <a:latin typeface="Aptos"/>
              </a:defRPr>
            </a:pPr>
            <a:r>
              <a:t>Não declarar “concluído” sem informar o que foi feito e como foi verificado.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16. Rotina recomendada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Comece com poucos agentes ativos por demanda e amplie conforme o volume justificar.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384048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POR DEMANDA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236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Briefing do fundador/CTO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Selecionar especialistas necessários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Registrar decisão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Executar tarefas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Testar e revisar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Aprovar conforme risco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384048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REVISÃO SEMANAL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236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Demandas e bloqueios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Riscos e decisões pendentes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Resultados de experimentos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Qualidade e retrabalho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Custos das plataformas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384048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MELHORIA CONTÍNUA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236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Medir qualidade por agente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Revisar prompts com evidências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Reduzir sobreposição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Registrar lições aprendidas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Testar mudanças antes de adotá-las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17. Indicadores da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Avalie entregas e riscos, não apenas velocidade ou quantidade de texto.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3611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82296" cy="384048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10512"/>
            <a:ext cx="3319272" cy="3236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Aderência aos requisitos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Taxa de retrabalho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Falhas detectadas na revisão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Precisão das fontes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Completude dos entregáveis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611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82296" cy="3840480"/>
          </a:xfrm>
          <a:prstGeom prst="rect">
            <a:avLst/>
          </a:prstGeom>
          <a:solidFill>
            <a:srgbClr val="35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EFICIÊNCIA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10512"/>
            <a:ext cx="3319272" cy="3236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Tempo até decisão útil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Tempo de ciclo por tarefa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Custo por entrega aprovada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Bloqueios por contexto ausente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Reutilização de artefatos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82296" cy="384048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1389888"/>
            <a:ext cx="33375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GOVERNANÇA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810512"/>
            <a:ext cx="3319272" cy="32369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Aprovações registradas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Incidentes e quase-incidentes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Testes executados versus alegados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ADRs quando exigidos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• Respeito às permissões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18. Implantação em quatro etapas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Adote a estrutura gradualmente e valide o fluxo antes de ampliar a equipe.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82296" cy="3383280"/>
          </a:xfrm>
          <a:prstGeom prst="rect">
            <a:avLst/>
          </a:prstGeom>
          <a:solidFill>
            <a:srgbClr val="E0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24231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ETAPA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93392"/>
            <a:ext cx="2404872" cy="27797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Formalizar papéis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Revisar políticas e contratos.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463040"/>
            <a:ext cx="82296" cy="3383280"/>
          </a:xfrm>
          <a:prstGeom prst="rect">
            <a:avLst/>
          </a:prstGeom>
          <a:solidFill>
            <a:srgbClr val="306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572768"/>
            <a:ext cx="24231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ETAPA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93392"/>
            <a:ext cx="2404872" cy="27797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Criar especialistas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Marketing, Jurídico e Contábil/Financeiro.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46304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463040"/>
            <a:ext cx="82296" cy="3383280"/>
          </a:xfrm>
          <a:prstGeom prst="rect">
            <a:avLst/>
          </a:prstGeom>
          <a:solidFill>
            <a:srgbClr val="7D5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572768"/>
            <a:ext cx="24231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ETAPA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1993392"/>
            <a:ext cx="2404872" cy="27797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Validar na prática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Testes, revisão cruzada e evidências.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81160" y="146304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1160" y="1463040"/>
            <a:ext cx="82296" cy="3383280"/>
          </a:xfrm>
          <a:prstGeom prst="rect">
            <a:avLst/>
          </a:prstGeom>
          <a:solidFill>
            <a:srgbClr val="30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572768"/>
            <a:ext cx="2423160" cy="38404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21F36"/>
                </a:solidFill>
                <a:latin typeface="Aptos"/>
              </a:defRPr>
            </a:pPr>
            <a:r>
              <a:t>ETAPA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1993392"/>
            <a:ext cx="2404872" cy="277977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Otimizar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263244"/>
                </a:solidFill>
                <a:latin typeface="Aptos"/>
              </a:defRPr>
            </a:pPr>
            <a:r>
              <a:t>Medir qualidade, custo e necessidade de divisão.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078992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21F36"/>
                </a:solidFill>
                <a:latin typeface="Aptos"/>
              </a:defRPr>
            </a:pPr>
            <a:r>
              <a:t>Crie outro agente quando houver especialização real, volume recorrente, benefício mensurável e custo operacional aceitável.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21F36"/>
                </a:solidFill>
                <a:latin typeface="Aptos"/>
              </a:defRPr>
            </a:pPr>
            <a:r>
              <a:t>19. Modelo operacional em uma frase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F6C7E"/>
                </a:solidFill>
                <a:latin typeface="Aptos"/>
              </a:defRPr>
            </a:pPr>
            <a:r>
              <a:t>A equipe é distribuída; a governança e a responsabilidade final não.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27432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121F36"/>
                </a:solidFill>
                <a:latin typeface="Aptos"/>
              </a:defRPr>
            </a:pPr>
            <a:r>
              <a:t>Você define a direção.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121F36"/>
                </a:solidFill>
                <a:latin typeface="Aptos"/>
              </a:defRPr>
            </a:pPr>
            <a:r>
              <a:t>O CTO organiza prioridades.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121F36"/>
                </a:solidFill>
                <a:latin typeface="Aptos"/>
              </a:defRPr>
            </a:pPr>
            <a:r>
              <a:t>Os especialistas analisam e recomendam.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121F36"/>
                </a:solidFill>
                <a:latin typeface="Aptos"/>
              </a:defRPr>
            </a:pPr>
            <a:r>
              <a:t>Arquitetura e engenharia planejam.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121F36"/>
                </a:solidFill>
                <a:latin typeface="Aptos"/>
              </a:defRPr>
            </a:pPr>
            <a:r>
              <a:t>Os agentes locais executam e testam.</a:t>
            </a:r>
          </a:p>
          <a:p>
            <a:pPr algn="ctr">
              <a:spcAft>
                <a:spcPts val="500"/>
              </a:spcAft>
              <a:defRPr sz="2300" b="1">
                <a:solidFill>
                  <a:srgbClr val="121F36"/>
                </a:solidFill>
                <a:latin typeface="Aptos"/>
              </a:defRPr>
            </a:pPr>
            <a:r>
              <a:t>A revisão verifica; você aprova o que exige decisão humana.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9966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600" b="0">
                <a:solidFill>
                  <a:srgbClr val="5F6C7E"/>
                </a:solidFill>
                <a:latin typeface="Aptos"/>
              </a:defRPr>
            </a:pPr>
            <a:r>
              <a:t>Fonte oficial: ai-team/ • decisões registradas • evidências verificáveis • permissões mínimas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89320"/>
            <a:ext cx="996696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F6C7E"/>
                </a:solidFill>
                <a:latin typeface="Aptos"/>
              </a:defRPr>
            </a:pPr>
            <a:r>
              <a:t>Proposta inicial: validar contra os arquivos reais do repositório antes de formalizar.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